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>
            <a:r>
              <a:t>Duration: ~45 sec</a:t>
            </a:r>
          </a:p>
          <a:p>
            <a:r>
              <a:t>Transition: Open with customer context.</a:t>
            </a:r>
          </a:p>
          <a:p/>
          <a:p>
            <a:r>
              <a:t>Technical audience: civil, layout, structural. Open with scope: ground-mount only. Early Access · screening-grade outputs only. Not bankable yield, not survey-grade terrain, not a substitute for LiDAR, PVsyst, or lender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>
            <a:r>
              <a:t>Duration: ~30 sec</a:t>
            </a:r>
          </a:p>
          <a:p/>
          <a:p>
            <a:r>
              <a:t>30 minutes including ~8 min demo. Pause for questions on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>
            <a:r>
              <a:t>Duration: ~60 sec</a:t>
            </a:r>
          </a:p>
          <a:p/>
          <a:p>
            <a:r>
              <a:t>Ask room: fixed tilt, tracker, or mixed portfolio?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>
            <a:r>
              <a:t>Duration: ~75 sec</a:t>
            </a:r>
          </a:p>
          <a:p/>
          <a:p>
            <a:r>
              <a:t>Repeat Early Access disclaimer — reports state data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>
            <a:r>
              <a:t>Duration: ~90 sec</a:t>
            </a:r>
          </a:p>
          <a:p/>
          <a:p>
            <a:r>
              <a:t>Compare to LiDAR (cm–dm) and typical topo survey (decimetre).</a:t>
            </a:r>
          </a:p>
          <a:p/>
          <a:p>
            <a:r>
              <a:t>— Anticipated Q&amp;A —</a:t>
            </a:r>
          </a:p>
          <a:p>
            <a:r>
              <a:t>Q: Is this LiDAR accuracy?</a:t>
            </a:r>
          </a:p>
          <a:p>
            <a:r>
              <a:t>A: No — Copernicus GLO-30 screening (~30 m native). Use for go/no-go and layout direction, then commission survey.</a:t>
            </a:r>
          </a:p>
          <a:p>
            <a:r>
              <a:t>Q: Why 5 m grid if DEM is 30 m?</a:t>
            </a:r>
          </a:p>
          <a:p>
            <a:r>
              <a:t>A: Finer grid for contours/CAD workflow; underlying detail limit unchanged — we state this on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>
            <a:r>
              <a:t>Duration: ~75 sec</a:t>
            </a:r>
          </a:p>
          <a:p/>
          <a:p>
            <a:r>
              <a:t>Highlight LandXML + DXF as differentiator vs spreadsheet-only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>
            <a:r>
              <a:t>Duration: ~90 sec</a:t>
            </a:r>
          </a:p>
          <a:p/>
          <a:p>
            <a:r>
              <a:t>Explain why tracker limits are tighter than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>
            <a:r>
              <a:t>Duration: ~75 sec</a:t>
            </a:r>
          </a:p>
          <a:p/>
          <a:p>
            <a:r>
              <a:t>Emphasise one setup for all modules — no re-entry.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>
            <a:r>
              <a:t>Duration: ~75 sec</a:t>
            </a:r>
          </a:p>
          <a:p/>
          <a:p>
            <a:r>
              <a:t>Explain screening grid vs survey-grade 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>
            <a:r>
              <a:t>Duration: ~90 sec</a:t>
            </a:r>
          </a:p>
          <a:p/>
          <a:p>
            <a:r>
              <a:t>Focus on tracker cross-row p95 — not just mean slope.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>
            <a:r>
              <a:t>Duration: ~75 sec</a:t>
            </a:r>
          </a:p>
          <a:p/>
          <a:p>
            <a:r>
              <a:t>Conceptual surface — not survey replacement.</a:t>
            </a:r>
          </a:p>
          <a:p/>
          <a:p>
            <a:r>
              <a:t>— Anticipated Q&amp;A —</a:t>
            </a:r>
          </a:p>
          <a:p>
            <a:r>
              <a:t>Q: Will LandXML open in Civil 3D?</a:t>
            </a:r>
          </a:p>
          <a:p>
            <a:r>
              <a:t>A: Yes as UTM TIN starter surface — verify CRS and add survey control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>
            <a:r>
              <a:t>Duration: ~120 sec</a:t>
            </a:r>
          </a:p>
          <a:p/>
          <a:p>
            <a:r>
              <a:t>Run live if possible; otherwise walk screenshots in order.</a:t>
            </a:r>
          </a:p>
          <a:p/>
          <a:p>
            <a:r>
              <a:t>Step 1: Emphasise one setup for all modules — no re-entry.</a:t>
            </a:r>
          </a:p>
          <a:p>
            <a:r>
              <a:t>Step 2: Explain screening grid vs survey-grade LiDAR.</a:t>
            </a:r>
          </a:p>
          <a:p>
            <a:r>
              <a:t>Step 3: Focus on tracker cross-row p95 — not just mean slope.</a:t>
            </a:r>
          </a:p>
          <a:p>
            <a:r>
              <a:t>Step 4: Conceptual surface — not survey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>
            <a:r>
              <a:t>Duration: ~60 sec</a:t>
            </a:r>
          </a:p>
          <a:p/>
          <a:p>
            <a:r>
              <a:t>No emojis in PDF — professional engineering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>
            <a:r>
              <a:t>Duration: ~90 sec</a:t>
            </a:r>
          </a:p>
          <a:p/>
          <a:p>
            <a:r>
              <a:t>Yes as UTM TIN starter surface — verify CRS and add survey control later.</a:t>
            </a:r>
          </a:p>
          <a:p/>
          <a:p>
            <a:r>
              <a:t>— Anticipated Q&amp;A —</a:t>
            </a:r>
          </a:p>
          <a:p>
            <a:r>
              <a:t>Q: Will LandXML open in Civil 3D?</a:t>
            </a:r>
          </a:p>
          <a:p>
            <a:r>
              <a:t>A: Yes as UTM TIN starter surface — verify CRS and add survey control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>
            <a:r>
              <a:t>Duration: ~60 sec</a:t>
            </a:r>
          </a:p>
          <a:p/>
          <a:p>
            <a:r>
              <a:t>Streamlit on Railway · Supabase auth · Copernicus + OpenTopoData where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>
            <a:r>
              <a:t>Duration: ~75 sec</a:t>
            </a:r>
          </a:p>
          <a:p/>
          <a:p>
            <a:r>
              <a:t>Position TopoIQ as filter before €10k–€50k+ survey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</a:t>
            </a:r>
          </a:p>
          <a:p>
            <a:r>
              <a:t>Duration: ~60 sec</a:t>
            </a:r>
          </a:p>
          <a:p/>
          <a:p>
            <a:r>
              <a:t>Ground-mount only — tracker cross-row metrics included; Agri-PV density handled in SiteIQ/YieldIQ.</a:t>
            </a:r>
          </a:p>
          <a:p/>
          <a:p>
            <a:r>
              <a:t>— Anticipated Q&amp;A —</a:t>
            </a:r>
          </a:p>
          <a:p>
            <a:r>
              <a:t>Q: Agri-PV / trackers?</a:t>
            </a:r>
          </a:p>
          <a:p>
            <a:r>
              <a:t>A: Ground-mount only — tracker cross-row metrics included; Agri-PV density handled in SiteIQ/YieldIQ.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</a:t>
            </a:r>
          </a:p>
          <a:p>
            <a:r>
              <a:t>Duration: ~45 sec</a:t>
            </a:r>
          </a:p>
          <a:p/>
          <a:p>
            <a:r>
              <a:t>LayoutIQ will consume TopoIQ surfaces for auto row layout —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</a:t>
            </a:r>
          </a:p>
          <a:p>
            <a:r>
              <a:t>Duration: ~45 sec</a:t>
            </a:r>
          </a:p>
          <a:p/>
          <a:p>
            <a:r>
              <a:t>Free tier: 5 TopoIQ runs/month separate cap. Pooled on Pro/Developer.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</a:t>
            </a:r>
          </a:p>
          <a:p>
            <a:r>
              <a:t>Duration: ~60 sec</a:t>
            </a:r>
          </a:p>
          <a:p/>
          <a:p>
            <a:r>
              <a:t>Use as backup slide if live Q&amp;A is quiet.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</a:t>
            </a:r>
          </a:p>
          <a:p>
            <a:r>
              <a:t>Duration: ~60 sec</a:t>
            </a:r>
          </a:p>
          <a:p>
            <a:r>
              <a:t>Transition: Offer follow-up demo or pilot proposal.</a:t>
            </a:r>
          </a:p>
          <a:p/>
          <a:p>
            <a:r>
              <a:t>Offer pilot: 5 boundaries from their pipeline. Send sample LandXML/DXF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</a:t>
            </a:r>
          </a:p>
          <a:p>
            <a:r>
              <a:t>Duration: ~0 sec</a:t>
            </a:r>
          </a:p>
          <a:p/>
          <a:p>
            <a:r>
              <a:t>Full script for presenter — not shown to audience unless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822960" cy="822960"/>
          </a:xfrm>
          <a:prstGeom prst="roundRect">
            <a:avLst/>
          </a:prstGeom>
          <a:solidFill>
            <a:srgbClr val="145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230428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2436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868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E1A"/>
                </a:solidFill>
              </a:defRPr>
            </a:pPr>
            <a:r>
              <a:t>PVMath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9144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E1A"/>
                </a:solidFill>
              </a:defRPr>
            </a:pPr>
            <a:r>
              <a:t>TopoIQ</a:t>
            </a:r>
          </a:p>
          <a:p>
            <a:pPr>
              <a:spcBef>
                <a:spcPts val="1000"/>
              </a:spcBef>
              <a:defRPr sz="2000">
                <a:solidFill>
                  <a:srgbClr val="5A7A5A"/>
                </a:solidFill>
              </a:defRPr>
            </a:pPr>
            <a:r>
              <a:t>Terrain screening &amp; CAD starter kit for ground-mount solar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7A5A"/>
                </a:solidFill>
              </a:defRPr>
            </a:pPr>
            <a:r>
              <a:t>Mohammed Ismail Pasha  ·  22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7A5A"/>
                </a:solidFill>
              </a:defRPr>
            </a:pPr>
            <a:r>
              <a:t>Early Access · screening-grade outputs only. Not bankable yield, not survey-grade terrain, not a substitute for LiDAR, PVsyst, or lender sign-off.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1. Scope, data sources &amp; honesty limits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2. Inputs, outputs &amp; engineering metrics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3. Project Setup → boundary → analysis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4. Live demo walkthrough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5. Exports: PDF, LandXML, DXF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6. Integration, limitations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Who TopoIQ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Civil / structural engineers evaluating buildability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Layout engineers needing slope direction before row design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EPC design teams reducing surprise topo costs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Developers screening Agri-PV and tracker sites at scale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Not for: rooftop, floating, or survey-grade as-built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Purpose &amp; scope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Screen terrain before you order the topo survey.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Copernicus GLO-30 terrain screening inside project boundary.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Copernicus GLO-30 inside user-drawn or KMZ boundary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Screening-grade — go/no-go and layout direction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Complements SiteIQ (suitability) and YieldIQ (yield)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Does not replace LiDAR, drone survey, or lender-grade topo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Diagram: screening → survey → detailed design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Data source — Copernicus GLO-30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Global DEM ~30 m native posting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Resampled to analysis grid (default 5 m) for maps &amp; contours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Finer grid ≠ finer terrain detail — underlying limit ~30 m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Consistent worldwide — no EU-only dataset switch in TopoIQ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Honest labeling on PDF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Inputs &amp;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45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45F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Boundary from Project Setup (draw or KMZ/KML) · analysis grid (default 5 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Slope maps, cross-row grades, engineering verdicts, terrain PDF, LandXML, DXF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Typical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~20–60 s depending on site size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E1A"/>
                          </a:solidFill>
                        </a:defRPr>
                      </a:pPr>
                      <a:r>
                        <a:t>Civil/structural engineers, EPC design teams, layout engineers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Engineering metrics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Fixed tilt vs single-axis tracker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Fixed tilt: Excellent ≤5% · Acceptable ≤10% · Challenging ≤15%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Tracker: Excellent ≤3% · Acceptable ≤6% · Challenging ≤10%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Cross-row grade statistics (mean, p95) for tracker row spacing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Verdict bands align with SiteIQ terrain flags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Use for screening — detailed cut/fill comes after survey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cross-row grade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Demo — Project Setup (Full 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Create project name + country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Upload KMZ or draw boundary on map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Confirm area (ha) — inherited by TopoIQ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Project Setup boundary 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Demo — Confirm grid &amp; land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Default 5 m analysis grid (layout-friendly)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GLO-30 native ~30 m — honest resampling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Select enabled parcels from KMZ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TopoIQ boundary manager + layer toggles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Demo — Run terrain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Slope heatmap + cross-row statistics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Fixed tilt vs tracker engineering verdicts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Review zones when cross-row grades exceed 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TopoIQ slope map + metrics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Demo — Export PDF + CAD starter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Terrain PDF for client / internal gate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LandXML TIN (UTM) for Civil 3D import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DXF contours + parcel linework from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PDF cover + Civil 3D import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End-to-end demo flow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1 — Project Setup (Full Mode)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Create project name + country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Upload KMZ or draw boundary 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2 — Confirm grid &amp; land context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Default 5 m analysis grid (layout-friendly)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GLO-30 native ~30 m — honest resampling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3 — Run terrain screening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Slope heatmap + cross-row statistics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Fixed tilt vs tracker engineering verdicts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4 — Export PDF + CAD starter kit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Terrain PDF for client / internal gate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LandXML TIN (UTM) for Civil 3D import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448056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Project Setup boundary on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PDF terrain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Project metadata + boundary summary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Slope heatmap and statistics table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Fixed / tracker verdict with threshold reference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Data source and resampling disclaimer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Same ReportLab styling as SiteIQ screening PDFs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TopoIQ PDF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CAD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LandXML: UTM TIN surface for Civil 3D import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DXF: contour lines + parcel/boundary linework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Starter kit — add survey control and breaklines later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Verify CRS on import; do not use for final grading bids alone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CSV grid available for custom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Civil 3D import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Technical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High level — Early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502920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Optional: architecture diagram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User: Browser — siteiq.pvmath.com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App: Streamlit on Railway · auth via Supabase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Data: PVGIS · Copernicus GLO-30 · OpenTopoData · OSM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Storage: Supabase — projects, usage, team invites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Exports: PDF (ReportLab) · LandXML · DXF ·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Limitations — when to order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Steep or complex terrain — GLO-30 may under-resolve gullies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Lender or EPC contract requires survey-grade surface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Cut/fill quantities for BOQ — need measured topo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Drainage and access road detail — beyond DEM screening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TopoIQ tells you whether survey spend is justified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Platform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Project Setup (Full Mode) — boundary shared with SiteIQ context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SiteIQ land use + mounting informs density and verdict language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YieldIQ uses same location for configuration compare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Agri-PV: lower MW/ha in SiteIQ; terrain limits unchanged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Developer tier: pooled analyses for high-volume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Live: SiteIQ · TopoIQ · YieldIQ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Next: RevenueIQ (EEG / tariff revenue) · LayoutIQ (auto layout + BOM)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Future: ProcureIQ · FieldIQ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Pricing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Early Access — contact for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Free: 5 runs per module/month (separate caps)</a:t>
            </a:r>
          </a:p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Professional: €149/mo, 75 pooled analyses</a:t>
            </a:r>
          </a:p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Developer: €499/mo, 300 pooled, 5 seats</a:t>
            </a:r>
          </a:p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Enterprise: custom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5F34"/>
                </a:solidFill>
              </a:defRPr>
            </a:pPr>
            <a:r>
              <a:t>Try free: https://siteiq.pvmath.com  ·  Subscribe / Enterprise: contact@pvmath.com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Anticipated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Q: Is this LiDAR accuracy?</a:t>
            </a:r>
            <a:br/>
            <a:r>
              <a:t>A: No — Copernicus GLO-30 screening (~30 m native). Use for go/no-go and layout direction, then commission survey.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Q: Why 5 m grid if DEM is 30 m?</a:t>
            </a:r>
            <a:br/>
            <a:r>
              <a:t>A: Finer grid for contours/CAD workflow; underlying detail limit unchanged — we state this on reports.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Q: Will LandXML open in Civil 3D?</a:t>
            </a:r>
            <a:br/>
            <a:r>
              <a:t>A: Yes as UTM TIN starter surface — verify CRS and add survey control later.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Q: Agri-PV / trackers?</a:t>
            </a:r>
            <a:br/>
            <a:r>
              <a:t>A: Ground-mount only — tracker cross-row metrics included; Agri-PV density handled in SiteIQ/YieldIQ.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Questions?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https://pvmath.com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contact@pvmath.com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https://www.linkedin.com/company/pvmath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https://www.youtube.com/@PVMath_Official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App: https://siteiq.pvmath.com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1828800"/>
            <a:ext cx="1005840" cy="1005840"/>
          </a:xfrm>
          <a:prstGeom prst="roundRect">
            <a:avLst/>
          </a:prstGeom>
          <a:solidFill>
            <a:srgbClr val="145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828800"/>
            <a:ext cx="1005840" cy="281635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2180844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Appendix — Speaker script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Hide or skip in live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Opening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TopoIQ technical session — terrain screening with CAD handoff.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Data honesty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GLO-30 ~30 m native; 5 m grid for workflow only.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Demo script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Step 1 — Project Setup (Full Mode): Emphasise one setup for all modules — no re-entry.</a:t>
            </a:r>
            <a:br/>
            <a:r>
              <a:t>Step 2 — Confirm grid &amp; land context: Explain screening grid vs survey-grade LiDAR.</a:t>
            </a:r>
            <a:br/>
            <a:r>
              <a:t>Step 3 — Run terrain screening: Focus on tracker cross-row p95 — not just mean slope.</a:t>
            </a:r>
            <a:br/>
            <a:r>
              <a:t>Step 4 — Export PDF + CAD starter kit: Conceptual surface — not survey replacement.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Close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Free: 5 runs per module/month (separate caps) · Professional: €149/mo, 75 pooled analyses · Developer: €499/mo, 300 pooled, 5 seats · Enterprise: custom · contact@pvmath.com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Presenter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