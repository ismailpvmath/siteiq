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</a:t>
            </a:r>
          </a:p>
          <a:p>
            <a:r>
              <a:t>Duration: ~45 sec</a:t>
            </a:r>
          </a:p>
          <a:p>
            <a:r>
              <a:t>Transition: Open with customer context.</a:t>
            </a:r>
          </a:p>
          <a:p/>
          <a:p>
            <a:r>
              <a:t>Introduce yourself and the customer context (pipeline stage, geography, fixed vs tracker mix). State ground-mount only — no rooftop. Repeat disclaimer: Early Access · screening-grade outputs only. Not bankable yield, not survey-grade terrain, not a substitute for LiDAR, PVsyst, or lender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</a:t>
            </a:r>
          </a:p>
          <a:p>
            <a:r>
              <a:t>Duration: ~30 sec</a:t>
            </a:r>
          </a:p>
          <a:p/>
          <a:p>
            <a:r>
              <a:t>Set expectation: 15 minutes, Q&amp;A at end. Offer to go deeper on TopoIQ in a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</a:t>
            </a:r>
          </a:p>
          <a:p>
            <a:r>
              <a:t>Duration: ~75 sec</a:t>
            </a:r>
          </a:p>
          <a:p/>
          <a:p>
            <a:r>
              <a:t>Ask: how many sites did your team advance last quarter before terrain or yield killed them? Do not invent customer stats — use their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</a:t>
            </a:r>
          </a:p>
          <a:p>
            <a:r>
              <a:t>Duration: ~90 sec</a:t>
            </a:r>
          </a:p>
          <a:p/>
          <a:p>
            <a:r>
              <a:t>Position as workflow compression, not a magic accuracy upgrade. Screening-grade outputs with honest disclaimers.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</a:t>
            </a:r>
          </a:p>
          <a:p>
            <a:r>
              <a:t>Duration: ~60 sec</a:t>
            </a:r>
          </a:p>
          <a:p/>
          <a:p>
            <a:r>
              <a:t>Tagline: From site to system. Live at siteiq.pvmath.com.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</a:t>
            </a:r>
          </a:p>
          <a:p>
            <a:r>
              <a:t>Duration: ~90 sec</a:t>
            </a:r>
          </a:p>
          <a:p/>
          <a:p>
            <a:r>
              <a:t>Walk left to right. Emphasise time-to-output, not precision claims. SiteIQ ≤4 min · TopoIQ ~20–60 s · YieldIQ ≤4 min (typical).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</a:t>
            </a:r>
          </a:p>
          <a:p>
            <a:r>
              <a:t>Duration: ~60 sec</a:t>
            </a:r>
          </a:p>
          <a:p/>
          <a:p>
            <a:r>
              <a:t>Offer sample PDF from pvmath.com if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</a:t>
            </a:r>
          </a:p>
          <a:p>
            <a:r>
              <a:t>Duration: ~60 sec</a:t>
            </a:r>
          </a:p>
          <a:p/>
          <a:p>
            <a:r>
              <a:t>Tease deeper TopoIQ session for civil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</a:t>
            </a:r>
          </a:p>
          <a:p>
            <a:r>
              <a:t>Duration: ~60 sec</a:t>
            </a:r>
          </a:p>
          <a:p/>
          <a:p>
            <a:r>
              <a:t>Stress not bankable — use for configuration direction before PVsyst.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</a:t>
            </a:r>
          </a:p>
          <a:p>
            <a:r>
              <a:t>Duration: ~180 sec</a:t>
            </a:r>
          </a:p>
          <a:p/>
          <a:p>
            <a:r>
              <a:t>Pick ONE site the customer knows. SiteIQ first (Quick Mode), then Full Mode boundary if time allows. Skip YieldIQ if clock is tight.</a:t>
            </a:r>
          </a:p>
          <a:p/>
          <a:p>
            <a:r>
              <a:t>Step 1: </a:t>
            </a:r>
          </a:p>
          <a:p>
            <a:r>
              <a:t>Step 2: </a:t>
            </a:r>
          </a:p>
          <a:p>
            <a:r>
              <a:t>Step 3: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</a:t>
            </a:r>
          </a:p>
          <a:p>
            <a:r>
              <a:t>Duration: ~60 sec</a:t>
            </a:r>
          </a:p>
          <a:p/>
          <a:p>
            <a:r>
              <a:t>Tie each bullet to customer pain from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</a:t>
            </a:r>
          </a:p>
          <a:p>
            <a:r>
              <a:t>Duration: ~45 sec</a:t>
            </a:r>
          </a:p>
          <a:p/>
          <a:p>
            <a:r>
              <a:t>Only if technical buyer present — otherwise skip verbally.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</a:t>
            </a:r>
          </a:p>
          <a:p>
            <a:r>
              <a:t>Duration: ~45 sec</a:t>
            </a:r>
          </a:p>
          <a:p/>
          <a:p>
            <a:r>
              <a:t>Read tiers from slide. Full text: Free: 5 runs per module/month (separate caps) · Professional: €149/mo, 75 pooled analyses · Developer: €499/mo, 300 pooled, 5 seats · Enterprise: custom. Stripe not live — email for activation.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</a:t>
            </a:r>
          </a:p>
          <a:p>
            <a:r>
              <a:t>Duration: ~45 sec</a:t>
            </a:r>
          </a:p>
          <a:p/>
          <a:p>
            <a:r>
              <a:t>RevenueIQ + LayoutIQ next — do not over-promise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</a:t>
            </a:r>
          </a:p>
          <a:p>
            <a:r>
              <a:t>Duration: ~60 sec</a:t>
            </a:r>
          </a:p>
          <a:p>
            <a:r>
              <a:t>Transition: Offer follow-up demo or pilot proposal.</a:t>
            </a:r>
          </a:p>
          <a:p/>
          <a:p>
            <a:r>
              <a:t>Close with concrete next step: free account, pilot on 3 sites, or TopoIQ deep-dive. Collect follow-up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</a:t>
            </a:r>
          </a:p>
          <a:p>
            <a:r>
              <a:t>Duration: ~0 sec</a:t>
            </a:r>
          </a:p>
          <a:p/>
          <a:p>
            <a:r>
              <a:t>Full script for presenter — not shown to audience unless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822960" cy="822960"/>
          </a:xfrm>
          <a:prstGeom prst="roundRect">
            <a:avLst/>
          </a:prstGeom>
          <a:solidFill>
            <a:srgbClr val="145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" cy="230428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02436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PV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8686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E1A"/>
                </a:solidFill>
              </a:defRPr>
            </a:pPr>
            <a:r>
              <a:t>PVMath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9144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E1A"/>
                </a:solidFill>
              </a:defRPr>
            </a:pPr>
            <a:r>
              <a:t>Ground-mount site intelligence</a:t>
            </a:r>
          </a:p>
          <a:p>
            <a:pPr>
              <a:spcBef>
                <a:spcPts val="1000"/>
              </a:spcBef>
              <a:defRPr sz="2000">
                <a:solidFill>
                  <a:srgbClr val="5A7A5A"/>
                </a:solidFill>
              </a:defRPr>
            </a:pPr>
            <a:r>
              <a:t>Screen faster. Advance fewer dead-end sites.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7A5A"/>
                </a:solidFill>
              </a:defRPr>
            </a:pPr>
            <a:r>
              <a:t>Mohammed Ismail Pasha  ·  22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06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A7A5A"/>
                </a:solidFill>
              </a:defRPr>
            </a:pPr>
            <a:r>
              <a:t>Early Access · screening-grade outputs only. Not bankable yield, not survey-grade terrain, not a substitute for LiDAR, PVsyst, or lender sign-off.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1. Why screening breaks down today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2. PVMath workflow — one project, three modules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3. SiteIQ · TopoIQ · YieldIQ overview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4. Live demo flow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5. Pricing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The problem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Ground-mount pipelines lose time on sites that should fail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Weeks lost on sites that fail on slope, flood, or grid reality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Repeated manual GIS + PVGIS + spreadsheet work per iteration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Terrain surprises discovered after layout and civil budget are fixed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Inconsistent screening quality across project managers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30352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Photo: empty field / early-stage site (placeholder)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Manual screening vs PVMath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45F34"/>
                </a:solidFill>
              </a:defRPr>
            </a:pPr>
            <a:r>
              <a:t>Typical manual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Calibri"/>
              </a:defRPr>
            </a:pPr>
            <a:r>
              <a:t>Desktop GIS + manual coordinate handling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Calibri"/>
              </a:defRPr>
            </a:pPr>
            <a:r>
              <a:t>Separate PVGIS / spreadsheet yield checks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Calibri"/>
              </a:defRPr>
            </a:pPr>
            <a:r>
              <a:t>Topo survey or LiDAR deferred until late stage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Calibri"/>
              </a:defRPr>
            </a:pPr>
            <a:r>
              <a:t>PDF reports assembled by hand for each gate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32588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45F34"/>
                </a:solidFill>
              </a:defRPr>
            </a:pPr>
            <a:r>
              <a:t>PVMath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78308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Calibri"/>
              </a:defRPr>
            </a:pPr>
            <a:r>
              <a:t>One project setup — location, boundary, country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Calibri"/>
              </a:defRPr>
            </a:pPr>
            <a:r>
              <a:t>SiteIQ → TopoIQ → YieldIQ share the same site context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Calibri"/>
              </a:defRPr>
            </a:pPr>
            <a:r>
              <a:t>Screening PDFs and CAD starter kit in minutes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Calibri"/>
              </a:defRPr>
            </a:pPr>
            <a:r>
              <a:t>Consistent methodology and disclaimers built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What is PVMath?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Solar Site Intelligence Platform — ground mount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SiteIQ — rapid suitability screening (solar, terrain flag, flood, regulatory hints)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TopoIQ — Copernicus terrain screening + CAD starter exports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YieldIQ — four-configuration yield comparison before PVsyst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One project setup shared across modules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Early Access — contact@pvmath.com for team activation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30352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Screenshot: app sidebar with three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Three modules — one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566160" cy="4480560"/>
          </a:xfrm>
          <a:prstGeom prst="roundRect">
            <a:avLst/>
          </a:prstGeom>
          <a:solidFill>
            <a:srgbClr val="E8F5EE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600" b="1">
                <a:solidFill>
                  <a:srgbClr val="145F34"/>
                </a:solidFill>
              </a:defRPr>
            </a:pPr>
            <a:r>
              <a:t>SiteIQ</a:t>
            </a:r>
          </a:p>
          <a:p>
            <a:pPr>
              <a:defRPr sz="1100" b="0">
                <a:solidFill>
                  <a:srgbClr val="1A2E1A"/>
                </a:solidFill>
              </a:defRPr>
            </a:pPr>
            <a:r>
              <a:t>Know if a site is buildable within minutes.</a:t>
            </a:r>
          </a:p>
          <a:p>
            <a:pPr>
              <a:defRPr sz="1100" b="0">
                <a:solidFill>
                  <a:srgbClr val="1A2E1A"/>
                </a:solidFill>
              </a:defRPr>
            </a:pPr>
          </a:p>
          <a:p>
            <a:pPr>
              <a:defRPr sz="1100" b="0">
                <a:solidFill>
                  <a:srgbClr val="1A2E1A"/>
                </a:solidFill>
              </a:defRPr>
            </a:pPr>
            <a:r>
              <a:t>Outputs: GHI, slope (indicative), flood flag, capacity band, suitability score, screening…</a:t>
            </a:r>
          </a:p>
          <a:p>
            <a:pPr>
              <a:defRPr sz="1100" b="0">
                <a:solidFill>
                  <a:srgbClr val="1A2E1A"/>
                </a:solidFill>
              </a:defRPr>
            </a:pPr>
            <a:r>
              <a:t>Typical: ≤ 4 minutes typical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17320"/>
            <a:ext cx="3566160" cy="4480560"/>
          </a:xfrm>
          <a:prstGeom prst="roundRect">
            <a:avLst/>
          </a:prstGeom>
          <a:solidFill>
            <a:srgbClr val="E8F5EE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600" b="1">
                <a:solidFill>
                  <a:srgbClr val="145F34"/>
                </a:solidFill>
              </a:defRPr>
            </a:pPr>
            <a:r>
              <a:t>TopoIQ</a:t>
            </a:r>
          </a:p>
          <a:p>
            <a:pPr>
              <a:defRPr sz="1100" b="0">
                <a:solidFill>
                  <a:srgbClr val="1A2E1A"/>
                </a:solidFill>
              </a:defRPr>
            </a:pPr>
            <a:r>
              <a:t>Screen terrain before you order the topo survey.</a:t>
            </a:r>
          </a:p>
          <a:p>
            <a:pPr>
              <a:defRPr sz="1100" b="0">
                <a:solidFill>
                  <a:srgbClr val="1A2E1A"/>
                </a:solidFill>
              </a:defRPr>
            </a:pPr>
          </a:p>
          <a:p>
            <a:pPr>
              <a:defRPr sz="1100" b="0">
                <a:solidFill>
                  <a:srgbClr val="1A2E1A"/>
                </a:solidFill>
              </a:defRPr>
            </a:pPr>
            <a:r>
              <a:t>Outputs: Slope maps, cross-row grades, engineering verdicts, terrain PDF, LandXML, DXF</a:t>
            </a:r>
          </a:p>
          <a:p>
            <a:pPr>
              <a:defRPr sz="1100" b="0">
                <a:solidFill>
                  <a:srgbClr val="1A2E1A"/>
                </a:solidFill>
              </a:defRPr>
            </a:pPr>
            <a:r>
              <a:t>Typical: ~20–60 s depending on site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417320"/>
            <a:ext cx="3566160" cy="4480560"/>
          </a:xfrm>
          <a:prstGeom prst="roundRect">
            <a:avLst/>
          </a:prstGeom>
          <a:solidFill>
            <a:srgbClr val="E8F5EE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600" b="1">
                <a:solidFill>
                  <a:srgbClr val="145F34"/>
                </a:solidFill>
              </a:defRPr>
            </a:pPr>
            <a:r>
              <a:t>YieldIQ</a:t>
            </a:r>
          </a:p>
          <a:p>
            <a:pPr>
              <a:defRPr sz="1100" b="0">
                <a:solidFill>
                  <a:srgbClr val="1A2E1A"/>
                </a:solidFill>
              </a:defRPr>
            </a:pPr>
            <a:r>
              <a:t>Compare tracker vs fixed yield before you open PVsyst.</a:t>
            </a:r>
          </a:p>
          <a:p>
            <a:pPr>
              <a:defRPr sz="1100" b="0">
                <a:solidFill>
                  <a:srgbClr val="1A2E1A"/>
                </a:solidFill>
              </a:defRPr>
            </a:pPr>
          </a:p>
          <a:p>
            <a:pPr>
              <a:defRPr sz="1100" b="0">
                <a:solidFill>
                  <a:srgbClr val="1A2E1A"/>
                </a:solidFill>
              </a:defRPr>
            </a:pPr>
            <a:r>
              <a:t>Outputs: Specific yield, PR, capacity factor, tracker gain, comparison PDF</a:t>
            </a:r>
          </a:p>
          <a:p>
            <a:pPr>
              <a:defRPr sz="1100" b="0">
                <a:solidFill>
                  <a:srgbClr val="1A2E1A"/>
                </a:solidFill>
              </a:defRPr>
            </a:pPr>
            <a:r>
              <a:t>Typical: ≤ 4 minutes typical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SiteIQ — first gate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Know if a site is buildable within minutes.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Inputs: Project setup · land use · mounting type · area (ha) · coordinates/boundary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Outputs: GHI, slope (indicative), flood flag, capacity band, suitability score, screening PDF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Data: PVGIS JRC · OpenTopoData (EU-DEM / SRTM) · OpenStreetMap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Standard vs Agri-PV density · Fixed tilt vs single-axis tracker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Screening PDF for gate meetings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30352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Screenshot: SiteIQ suitability + PDF download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TopoIQ — terrain before survey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Screen terrain before you order the topo survey.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Inputs: Boundary from Project Setup (draw or KMZ/KML) · analysis grid (default 5 m)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Outputs: Slope maps, cross-row grades, engineering verdicts, terrain PDF, LandXML, DXF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Tracker cross-row grade metrics — not just mean slope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LandXML + DXF for civil workflow starter kit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Data: Copernicus GLO-30 DEM (~30 m native, resampled to grid)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30352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Screenshot: TopoIQ slope heatmap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YieldIQ — configuration compare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Compare tracker vs fixed yield before you open PVsyst.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Inputs: Location from Project Setup · DC capacity · GCR · system losses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Outputs: Specific yield, PR, capacity factor, tracker gain, comparison PDF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Compare SAT vs fixed · 1P vs 2P in one run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Not bankable yield — directionally correct for feasibility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Data: PVGIS JRC (screening-grade — not bankable)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530352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Screenshot: YieldIQ comparison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Live demo — suggested flow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5F34"/>
                </a:solidFill>
              </a:defRPr>
            </a:pPr>
            <a:r>
              <a:t>Step 1 — SiteIQ — first gate in minutes</a:t>
            </a:r>
          </a:p>
          <a:p>
            <a:pPr>
              <a:defRPr sz="1100">
                <a:solidFill>
                  <a:srgbClr val="1A2E1A"/>
                </a:solidFill>
              </a:defRPr>
            </a:pPr>
            <a:r>
              <a:t>• Pin or paste coordinates</a:t>
            </a:r>
          </a:p>
          <a:p>
            <a:pPr>
              <a:defRPr sz="1100">
                <a:solidFill>
                  <a:srgbClr val="1A2E1A"/>
                </a:solidFill>
              </a:defRPr>
            </a:pPr>
            <a:r>
              <a:t>• Land use + mounting +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5F34"/>
                </a:solidFill>
              </a:defRPr>
            </a:pPr>
            <a:r>
              <a:t>Step 2 — TopoIQ — when boundary exists</a:t>
            </a:r>
          </a:p>
          <a:p>
            <a:pPr>
              <a:defRPr sz="1100">
                <a:solidFill>
                  <a:srgbClr val="1A2E1A"/>
                </a:solidFill>
              </a:defRPr>
            </a:pPr>
            <a:r>
              <a:t>• Full Mode boundary/KMZ</a:t>
            </a:r>
          </a:p>
          <a:p>
            <a:pPr>
              <a:defRPr sz="1100">
                <a:solidFill>
                  <a:srgbClr val="1A2E1A"/>
                </a:solidFill>
              </a:defRPr>
            </a:pPr>
            <a:r>
              <a:t>• Terrain verdict + exports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0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45F34"/>
                </a:solidFill>
              </a:defRPr>
            </a:pPr>
            <a:r>
              <a:t>Step 3 — YieldIQ — configuration compare</a:t>
            </a:r>
          </a:p>
          <a:p>
            <a:pPr>
              <a:defRPr sz="1100">
                <a:solidFill>
                  <a:srgbClr val="1A2E1A"/>
                </a:solidFill>
              </a:defRPr>
            </a:pPr>
            <a:r>
              <a:t>• Four configs: SAT/Fixed × 1P/2P</a:t>
            </a:r>
          </a:p>
          <a:p>
            <a:pPr>
              <a:defRPr sz="1100">
                <a:solidFill>
                  <a:srgbClr val="1A2E1A"/>
                </a:solidFill>
              </a:defRPr>
            </a:pPr>
            <a:r>
              <a:t>• Tracker gain vs fixed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48056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Screenshot: SiteIQ suitability score +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Why teams use PVMath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Time: collapse weeks of ad-hoc screening into same-day iterations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Cost: fewer dead-end sites advanced to expensive survey/design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Quality: tracker-aware terrain metrics and cross-module consistency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Risk: explicit Early Access disclaimers — honest screening, not false precision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Scale: pooled team plans for high-volume pipelines (Developer tier)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Early Access · screening-grade outputs only. Not bankable yi…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Technical architecture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High level — Early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5029200" cy="4389120"/>
          </a:xfrm>
          <a:prstGeom prst="roundRect">
            <a:avLst/>
          </a:prstGeom>
          <a:solidFill>
            <a:srgbClr val="F0F4F0"/>
          </a:solidFill>
          <a:ln>
            <a:solidFill>
              <a:srgbClr val="D4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A7A5A"/>
                </a:solidFill>
                <a:latin typeface="Calibri"/>
              </a:defRPr>
            </a:pPr>
            <a:r>
              <a:t>[INSERT IMAGE]</a:t>
            </a:r>
            <a:br/>
            <a:r>
              <a:t>Optional: architecture diagram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2E1A"/>
                </a:solidFill>
                <a:latin typeface="Calibri"/>
              </a:defRPr>
            </a:pPr>
            <a:r>
              <a:t>User: Browser — siteiq.pvmath.com</a:t>
            </a:r>
          </a:p>
          <a:p>
            <a:pPr>
              <a:spcAft>
                <a:spcPts val="800"/>
              </a:spcAft>
              <a:defRPr sz="1500">
                <a:solidFill>
                  <a:srgbClr val="1A2E1A"/>
                </a:solidFill>
                <a:latin typeface="Calibri"/>
              </a:defRPr>
            </a:pPr>
            <a:r>
              <a:t>App: Streamlit on Railway · auth via Supabase</a:t>
            </a:r>
          </a:p>
          <a:p>
            <a:pPr>
              <a:spcAft>
                <a:spcPts val="800"/>
              </a:spcAft>
              <a:defRPr sz="1500">
                <a:solidFill>
                  <a:srgbClr val="1A2E1A"/>
                </a:solidFill>
                <a:latin typeface="Calibri"/>
              </a:defRPr>
            </a:pPr>
            <a:r>
              <a:t>Data: PVGIS · Copernicus GLO-30 · OpenTopoData · OSM</a:t>
            </a:r>
          </a:p>
          <a:p>
            <a:pPr>
              <a:spcAft>
                <a:spcPts val="800"/>
              </a:spcAft>
              <a:defRPr sz="1500">
                <a:solidFill>
                  <a:srgbClr val="1A2E1A"/>
                </a:solidFill>
                <a:latin typeface="Calibri"/>
              </a:defRPr>
            </a:pPr>
            <a:r>
              <a:t>Storage: Supabase — projects, usage, team invites</a:t>
            </a:r>
          </a:p>
          <a:p>
            <a:pPr>
              <a:spcAft>
                <a:spcPts val="800"/>
              </a:spcAft>
              <a:defRPr sz="1500">
                <a:solidFill>
                  <a:srgbClr val="1A2E1A"/>
                </a:solidFill>
                <a:latin typeface="Calibri"/>
              </a:defRPr>
            </a:pPr>
            <a:r>
              <a:t>Exports: PDF (ReportLab) · LandXML · DXF ·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Pricing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Early Access — contact for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E1A"/>
                </a:solidFill>
                <a:latin typeface="Calibri"/>
              </a:defRPr>
            </a:pPr>
            <a:r>
              <a:t>Free: 5 runs per module/month (separate caps)</a:t>
            </a:r>
          </a:p>
          <a:p>
            <a:pPr>
              <a:spcAft>
                <a:spcPts val="800"/>
              </a:spcAft>
              <a:defRPr sz="1700">
                <a:solidFill>
                  <a:srgbClr val="1A2E1A"/>
                </a:solidFill>
                <a:latin typeface="Calibri"/>
              </a:defRPr>
            </a:pPr>
            <a:r>
              <a:t>Professional: €149/mo, 75 pooled analyses</a:t>
            </a:r>
          </a:p>
          <a:p>
            <a:pPr>
              <a:spcAft>
                <a:spcPts val="800"/>
              </a:spcAft>
              <a:defRPr sz="1700">
                <a:solidFill>
                  <a:srgbClr val="1A2E1A"/>
                </a:solidFill>
                <a:latin typeface="Calibri"/>
              </a:defRPr>
            </a:pPr>
            <a:r>
              <a:t>Developer: €499/mo, 300 pooled, 5 seats</a:t>
            </a:r>
          </a:p>
          <a:p>
            <a:pPr>
              <a:spcAft>
                <a:spcPts val="800"/>
              </a:spcAft>
              <a:defRPr sz="1700">
                <a:solidFill>
                  <a:srgbClr val="1A2E1A"/>
                </a:solidFill>
                <a:latin typeface="Calibri"/>
              </a:defRPr>
            </a:pPr>
            <a:r>
              <a:t>Enterprise: custom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5F34"/>
                </a:solidFill>
              </a:defRPr>
            </a:pPr>
            <a:r>
              <a:t>Try free: https://siteiq.pvmath.com  ·  Subscribe / Enterprise: contact@pvmath.com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Live: SiteIQ · TopoIQ · YieldIQ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Next: RevenueIQ (EEG / tariff revenue) · LayoutIQ (auto layout + BOM)</a:t>
            </a:r>
          </a:p>
          <a:p>
            <a:pPr>
              <a:spcAft>
                <a:spcPts val="800"/>
              </a:spcAft>
              <a:defRPr sz="1800">
                <a:solidFill>
                  <a:srgbClr val="1A2E1A"/>
                </a:solidFill>
                <a:latin typeface="Calibri"/>
              </a:defRPr>
            </a:pPr>
            <a:r>
              <a:t>Future: ProcureIQ · FieldIQ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Questions?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https://pvmath.com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contact@pvmath.com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https://www.linkedin.com/company/pvmath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https://www.youtube.com/@PVMath_Official</a:t>
            </a:r>
          </a:p>
          <a:p>
            <a:pPr>
              <a:spcAft>
                <a:spcPts val="800"/>
              </a:spcAft>
              <a:defRPr sz="2000">
                <a:solidFill>
                  <a:srgbClr val="1A2E1A"/>
                </a:solidFill>
                <a:latin typeface="Calibri"/>
              </a:defRPr>
            </a:pPr>
            <a:r>
              <a:t>App: https://siteiq.pvmath.com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1828800"/>
            <a:ext cx="1005840" cy="1005840"/>
          </a:xfrm>
          <a:prstGeom prst="roundRect">
            <a:avLst/>
          </a:prstGeom>
          <a:solidFill>
            <a:srgbClr val="145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1828800"/>
            <a:ext cx="1005840" cy="281635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2180844"/>
            <a:ext cx="1005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PV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9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E1A"/>
                </a:solidFill>
                <a:latin typeface="Calibri"/>
              </a:defRPr>
            </a:pPr>
            <a:r>
              <a:t>Appendix — Speaker script</a:t>
            </a:r>
          </a:p>
          <a:p>
            <a:pPr>
              <a:spcBef>
                <a:spcPts val="600"/>
              </a:spcBef>
              <a:defRPr sz="1600">
                <a:solidFill>
                  <a:srgbClr val="5A7A5A"/>
                </a:solidFill>
                <a:latin typeface="Calibri"/>
              </a:defRPr>
            </a:pPr>
            <a:r>
              <a:t>Hide or skip in live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  <a:r>
              <a:t>▸ Opening</a:t>
            </a: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  <a:r>
              <a:t>Thank [customer]. Today: how PVMath compresses ground-mount screening.</a:t>
            </a: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  <a:r>
              <a:t>▸ Demo</a:t>
            </a: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  <a:r>
              <a:t>SiteIQ — first gate in minutes: Pin or paste coordinates; Land use + mounting + area; Download screening PDF</a:t>
            </a:r>
            <a:br/>
            <a:r>
              <a:t>TopoIQ — when boundary exists: Full Mode boundary/KMZ; Terrain verdict + exports; CAD starter kit</a:t>
            </a:r>
            <a:br/>
            <a:r>
              <a:t>YieldIQ — configuration compare: Four configs: SAT/Fixed × 1P/2P; Tracker gain vs fixed; Feasibility PDF</a:t>
            </a: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  <a:r>
              <a:t>▸ Close</a:t>
            </a: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  <a:r>
              <a:t>Try free at siteiq.pvmath.com · Free: 5 runs per module/month (separate caps) · Professional: €149/mo, 75 pooled analyses · Developer: €499/mo, 300 pooled, 5 seats · Enterprise: custom</a:t>
            </a:r>
          </a:p>
          <a:p>
            <a:pPr>
              <a:spcAft>
                <a:spcPts val="800"/>
              </a:spcAft>
              <a:defRPr sz="1000">
                <a:solidFill>
                  <a:srgbClr val="1A2E1A"/>
                </a:solidFill>
                <a:latin typeface="Calibr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7A5A"/>
                </a:solidFill>
                <a:latin typeface="Calibri"/>
              </a:defRPr>
            </a:pPr>
            <a:r>
              <a:t>Presenter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65615" y="65105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7A5A"/>
                </a:solidFill>
                <a:latin typeface="Calibri"/>
              </a:defRPr>
            </a:pPr>
            <a:r>
              <a:t>pvmath.com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